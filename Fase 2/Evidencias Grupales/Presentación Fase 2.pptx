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Space Grotesk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qMFut6xbfR+ob20TM2hzmEbgh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983F57-72C5-4382-9F68-BBA077217898}">
  <a:tblStyle styleId="{DA983F57-72C5-4382-9F68-BBA07721789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SpaceGrotesk-bold.fntdata"/><Relationship Id="rId23" Type="http://schemas.openxmlformats.org/officeDocument/2006/relationships/font" Target="fonts/Space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85800" y="5591175"/>
            <a:ext cx="10820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9267825" y="533400"/>
            <a:ext cx="2238375" cy="285750"/>
          </a:xfrm>
          <a:prstGeom prst="roundRect">
            <a:avLst>
              <a:gd fmla="val 20000" name="adj"/>
            </a:avLst>
          </a:prstGeom>
          <a:solidFill>
            <a:srgbClr val="0F29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85800" y="5591175"/>
            <a:ext cx="108204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619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9420225" y="590550"/>
            <a:ext cx="20288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Sumativa Semana 9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2097434"/>
            <a:ext cx="1150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CENTRO DE MANTENIMIENTO AERONÁUTICO CMA N° 328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85800" y="2468909"/>
            <a:ext cx="9701212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Plataforma Web y Sistema de Admisión Técnica Aeronáutica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685800" y="3779490"/>
            <a:ext cx="790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Trazabilidad integral DAN 145, arquitectura Spring Boot</a:t>
            </a:r>
            <a:r>
              <a:rPr lang="en-US" sz="15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demostración de flujo operativo multiactor.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85850" y="576262"/>
            <a:ext cx="41314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CAPSTONE PTY4614 · FASE 2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970168" y="5829300"/>
            <a:ext cx="253603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DECLARADO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970168" y="6000750"/>
            <a:ext cx="25360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67.5% Verificable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85800" y="5934075"/>
            <a:ext cx="3262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 N° 7 (001D)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85800" y="6105525"/>
            <a:ext cx="3262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Cristóbal Pérez · Yerai Charnock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3676650" y="5934075"/>
            <a:ext cx="2738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DOCENTE GUÍA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676650" y="6105525"/>
            <a:ext cx="27384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Profesor Reginaldo Salinas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609600" y="5800725"/>
            <a:ext cx="109728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0058400" y="500062"/>
            <a:ext cx="1524000" cy="285750"/>
          </a:xfrm>
          <a:prstGeom prst="roundRect">
            <a:avLst>
              <a:gd fmla="val 13333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09600" y="2333625"/>
            <a:ext cx="4540001" cy="1962150"/>
          </a:xfrm>
          <a:prstGeom prst="roundRect">
            <a:avLst>
              <a:gd fmla="val 582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302126" y="2238375"/>
            <a:ext cx="5280273" cy="2152650"/>
          </a:xfrm>
          <a:prstGeom prst="roundRect">
            <a:avLst>
              <a:gd fmla="val 5309" name="adj"/>
            </a:avLst>
          </a:prstGeom>
          <a:solidFill>
            <a:srgbClr val="F0F9FF"/>
          </a:solidFill>
          <a:ln cap="flat" cmpd="sng" w="190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609600" y="58007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6801" y="31813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609600" y="457200"/>
            <a:ext cx="457557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Medición del Avance Real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0191750" y="557212"/>
            <a:ext cx="1352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Ficha de Avance 04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522214" y="2647950"/>
            <a:ext cx="2714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ESTIMACIÓN INICIAL EMPÍRICA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968698" y="2905125"/>
            <a:ext cx="182165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75%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17401" y="3781425"/>
            <a:ext cx="3524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Percepción antes de auditar inventario.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7721798" y="2562225"/>
            <a:ext cx="24407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AVANCE REAL PONDERADO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7376517" y="2819400"/>
            <a:ext cx="313134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369A1"/>
                </a:solidFill>
                <a:latin typeface="Space Grotesk"/>
                <a:ea typeface="Space Grotesk"/>
                <a:cs typeface="Space Grotesk"/>
                <a:sym typeface="Space Grotesk"/>
              </a:rPr>
              <a:t>67.5%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703814" y="3848100"/>
            <a:ext cx="4476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Calculado sobre evidencias comprobables.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09600" y="6000750"/>
            <a:ext cx="5467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Diferencia de -7.5%: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descartan declaraciones optimistas. Solo se reconoce puntaje con código funcionando y verificado en GitHub.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210300" y="6000750"/>
            <a:ext cx="5467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Viabilidad a 8 semanas: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Alcance redefinido para completar reportes PDF oficiales y alertas SMTP en las semanas planificadas.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9525000" y="609600"/>
            <a:ext cx="2057400" cy="285750"/>
          </a:xfrm>
          <a:prstGeom prst="roundRect">
            <a:avLst>
              <a:gd fmla="val 1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09600" y="1703337"/>
            <a:ext cx="5314950" cy="1121866"/>
          </a:xfrm>
          <a:prstGeom prst="roundRect">
            <a:avLst>
              <a:gd fmla="val 8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09600" y="2996654"/>
            <a:ext cx="5314950" cy="1121866"/>
          </a:xfrm>
          <a:prstGeom prst="roundRect">
            <a:avLst>
              <a:gd fmla="val 8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09600" y="4289970"/>
            <a:ext cx="5314950" cy="1121866"/>
          </a:xfrm>
          <a:prstGeom prst="roundRect">
            <a:avLst>
              <a:gd fmla="val 8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09600" y="1703337"/>
            <a:ext cx="38100" cy="112186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09600" y="2996654"/>
            <a:ext cx="38100" cy="112186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609600" y="4289970"/>
            <a:ext cx="38100" cy="112186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7450" y="1747837"/>
            <a:ext cx="53149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1747837"/>
            <a:ext cx="53149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"/>
          <p:cNvSpPr txBox="1"/>
          <p:nvPr/>
        </p:nvSpPr>
        <p:spPr>
          <a:xfrm>
            <a:off x="9658350" y="666750"/>
            <a:ext cx="1885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Parragué Ltda. · CMA N° 328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09600" y="6229350"/>
            <a:ext cx="7822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Líneas certificadas: Mangueras de aviación · Gobernadores de hélice (Hartzell, McCauley, Woodward)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09600" y="457200"/>
            <a:ext cx="6262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DOMINIO AERONÁUTICO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09600" y="666750"/>
            <a:ext cx="657582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Trazabilidad Crítica DGAC DAN 145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876300" y="1912887"/>
            <a:ext cx="63257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Problemática Previa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76300" y="2189112"/>
            <a:ext cx="49149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Captura manual por correos y planillas. Riesgo de omisión de datos de aeronavegabilidad.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76300" y="3206204"/>
            <a:ext cx="63257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Exigencia Regulatoria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876300" y="3482429"/>
            <a:ext cx="49149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Identificación obligatoria de P/N, S/N y fabricante para emitir el Formulario 8130-3.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876300" y="4499520"/>
            <a:ext cx="63257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Solución Avionett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876300" y="4775745"/>
            <a:ext cx="49149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Filtro de admisión con validación estricta y trazabilidad en base de datos relacional.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09600" y="2290762"/>
            <a:ext cx="2600325" cy="2533650"/>
          </a:xfrm>
          <a:prstGeom prst="roundRect">
            <a:avLst>
              <a:gd fmla="val 3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400425" y="2290762"/>
            <a:ext cx="2600325" cy="2533650"/>
          </a:xfrm>
          <a:prstGeom prst="roundRect">
            <a:avLst>
              <a:gd fmla="val 3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191250" y="2290762"/>
            <a:ext cx="2600325" cy="2533650"/>
          </a:xfrm>
          <a:prstGeom prst="roundRect">
            <a:avLst>
              <a:gd fmla="val 37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8982075" y="2290762"/>
            <a:ext cx="2600325" cy="2533650"/>
          </a:xfrm>
          <a:prstGeom prst="roundRect">
            <a:avLst>
              <a:gd fmla="val 3759" name="adj"/>
            </a:avLst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809625" y="4357687"/>
            <a:ext cx="220027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600450" y="4357687"/>
            <a:ext cx="220027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6391275" y="4357687"/>
            <a:ext cx="2200275" cy="228600"/>
          </a:xfrm>
          <a:prstGeom prst="roundRect">
            <a:avLst>
              <a:gd fmla="val 16666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2528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450" y="2528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1275" y="2528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2100" y="25288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63366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1412" y="26336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96050" y="263366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86875" y="26336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609600" y="457200"/>
            <a:ext cx="4786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ORGANIZACIONAL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609600" y="666750"/>
            <a:ext cx="502562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Modelo de Cuatro Actores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809625" y="3024187"/>
            <a:ext cx="28878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Cliente Operador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809625" y="3357562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 EXTERNO · PÚBLICO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809625" y="3643312"/>
            <a:ext cx="22955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habilitaciones DAN 145 e ingresa cotización con P/N y S/N obligatorios.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885825" y="4395787"/>
            <a:ext cx="2143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Demostración en vivo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3600450" y="3024187"/>
            <a:ext cx="28878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Encargado Admisión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3600450" y="3357562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MESÓN TÉCNICO TALLER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3600450" y="3643312"/>
            <a:ext cx="22955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Recepciona la pieza física y constata correlativo REQ-10 contra catálogo oficial.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3676650" y="4395787"/>
            <a:ext cx="2143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Demostración en vivo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6391275" y="3024187"/>
            <a:ext cx="28878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Mecánico Taller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6391275" y="3357562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EJECUCIÓN TÉCNICA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6391275" y="3643312"/>
            <a:ext cx="22955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Examina diagnóstico de falla, asigna presupuesto y cambia a estado Trabajando.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6467475" y="4395787"/>
            <a:ext cx="21431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✓ Demostración en vivo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9182100" y="3024187"/>
            <a:ext cx="28878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Jefe de Taller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9182100" y="3357562"/>
            <a:ext cx="2750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SUPERVISIÓN / ADMIN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9182100" y="3643312"/>
            <a:ext cx="22955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Monitoreo global de KPIs, ingresos proyectados y emisión final Formulario 8130-3.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/>
          <p:nvPr/>
        </p:nvSpPr>
        <p:spPr>
          <a:xfrm>
            <a:off x="609600" y="6200775"/>
            <a:ext cx="1097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9601200" y="495300"/>
            <a:ext cx="1981200" cy="285750"/>
          </a:xfrm>
          <a:prstGeom prst="roundRect">
            <a:avLst>
              <a:gd fmla="val 1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09600" y="62007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7232600" y="1964233"/>
            <a:ext cx="4349799" cy="954285"/>
          </a:xfrm>
          <a:prstGeom prst="roundRect">
            <a:avLst>
              <a:gd fmla="val 99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7232600" y="3070919"/>
            <a:ext cx="4349799" cy="954285"/>
          </a:xfrm>
          <a:prstGeom prst="roundRect">
            <a:avLst>
              <a:gd fmla="val 99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232600" y="4177605"/>
            <a:ext cx="4349799" cy="954285"/>
          </a:xfrm>
          <a:prstGeom prst="roundRect">
            <a:avLst>
              <a:gd fmla="val 99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232600" y="1964233"/>
            <a:ext cx="38100" cy="95428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232600" y="3070919"/>
            <a:ext cx="38100" cy="95428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7232600" y="4177605"/>
            <a:ext cx="38100" cy="95428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404937"/>
            <a:ext cx="63182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 txBox="1"/>
          <p:nvPr/>
        </p:nvSpPr>
        <p:spPr>
          <a:xfrm>
            <a:off x="9734550" y="552450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 Casos de Uso · 4 Actores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609600" y="209550"/>
            <a:ext cx="5846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MODELADO FORMAL UML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609600" y="381000"/>
            <a:ext cx="6138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Diagrama de Casos de Uso Unificado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7461200" y="2135683"/>
            <a:ext cx="47307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Inclusiones Obligatorias (&lt;&gt;)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7461200" y="2373808"/>
            <a:ext cx="4025949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CU03 incluye CU04 (Validar P/N y S/N) y CU05 (Generar Folio REQ-XX). Garantía de trazabilidad antes del guardado.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7461200" y="3242369"/>
            <a:ext cx="47307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Extensión Condicional (&lt;&gt;)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7461200" y="3480494"/>
            <a:ext cx="4025949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CU10 (Rechazo técnico justificado) extiende condicionalmente a CU09 si la pieza no califica para reparación.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7461200" y="4349055"/>
            <a:ext cx="47307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Segregación Operativa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7461200" y="4587180"/>
            <a:ext cx="4025949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Encargado de admisión constata pieza; técnico ejecuta evaluación; jefe supervisa KPIs consolidados.</a:t>
            </a:r>
            <a:endParaRPr/>
          </a:p>
        </p:txBody>
      </p:sp>
      <p:pic>
        <p:nvPicPr>
          <p:cNvPr id="205" name="Google Shape;205;p5" title="Diagrama caso de us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781050"/>
            <a:ext cx="6318201" cy="592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609600" y="6086475"/>
            <a:ext cx="10972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9839325" y="571500"/>
            <a:ext cx="1743075" cy="314325"/>
          </a:xfrm>
          <a:prstGeom prst="roundRect">
            <a:avLst>
              <a:gd fmla="val 1818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09600" y="608647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6"/>
          <p:cNvGraphicFramePr/>
          <p:nvPr/>
        </p:nvGraphicFramePr>
        <p:xfrm>
          <a:off x="609600" y="1862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{DA983F57-72C5-4382-9F68-BBA077217898}</a:tableStyleId>
              </a:tblPr>
              <a:tblGrid>
                <a:gridCol w="3965825"/>
                <a:gridCol w="688325"/>
                <a:gridCol w="554675"/>
                <a:gridCol w="688325"/>
                <a:gridCol w="1068425"/>
                <a:gridCol w="4007200"/>
              </a:tblGrid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Módulo o Funcionalidad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Origen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Reconocido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Evidencia Comprobatoria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46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Modelo relacional </a:t>
                      </a:r>
                      <a:r>
                        <a:rPr b="1" lang="en-US" sz="1050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MySql</a:t>
                      </a: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 integridad referencial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 y 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Script avionett_cma328.sql y tablas 3FN en MySQL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Portal corporativo y catálogo de capacidades DAN 145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Vistas responsivas Thymeleaf operativas en /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Admisión técnica y validación P/N, S/N y fabricante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Formulario /cotizador con orden persistida REQ-10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Portal administrativo y tablero visual Kanban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596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Vistas /admin/menu y /admin/dashboard funcionando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Evaluación técnica, costeo y asignación de mecánico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9770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Vista /admin/evaluar/10; falta persistencia de rechazo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Filtrado multicriterio e historial de archivados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D9770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Vista /admin/archivados maquetada; falta filtro reactivo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Exportación oficial Formulario DGAC 8130-3 (PDF)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2563E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Botón /pdf presente; pendiente servicio OpenPDF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Alertas SMTP y permisos granulares de roles (RBAC)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Planificado en backlog para semanas de cierre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6"/>
          <p:cNvSpPr txBox="1"/>
          <p:nvPr/>
        </p:nvSpPr>
        <p:spPr>
          <a:xfrm>
            <a:off x="9991725" y="628650"/>
            <a:ext cx="15335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Space Grotesk"/>
                <a:ea typeface="Space Grotesk"/>
                <a:cs typeface="Space Grotesk"/>
                <a:sym typeface="Space Grotesk"/>
              </a:rPr>
              <a:t>Avance Total: 67.5%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609600" y="6229350"/>
            <a:ext cx="7429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Distribución: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4 terminadas (60%) + 3 parciales/iniciadas (12.5%) + 1 pendiente (0%) =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67.5% Real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609600" y="457200"/>
            <a:ext cx="6762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TRAZABILIDAD FICHA 04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609600" y="628650"/>
            <a:ext cx="71008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Inventario y Estado de Funcionalidades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9982200" y="590550"/>
            <a:ext cx="1600200" cy="285750"/>
          </a:xfrm>
          <a:prstGeom prst="roundRect">
            <a:avLst>
              <a:gd fmla="val 13333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991225" y="1990725"/>
            <a:ext cx="5591175" cy="3095625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09600" y="1684287"/>
            <a:ext cx="5038725" cy="1121866"/>
          </a:xfrm>
          <a:prstGeom prst="roundRect">
            <a:avLst>
              <a:gd fmla="val 8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09600" y="2977604"/>
            <a:ext cx="5038725" cy="1121866"/>
          </a:xfrm>
          <a:prstGeom prst="roundRect">
            <a:avLst>
              <a:gd fmla="val 8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09600" y="4270920"/>
            <a:ext cx="5038725" cy="1121866"/>
          </a:xfrm>
          <a:prstGeom prst="roundRect">
            <a:avLst>
              <a:gd fmla="val 849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09600" y="1684287"/>
            <a:ext cx="38100" cy="112186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09600" y="2977604"/>
            <a:ext cx="38100" cy="112186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09600" y="4270920"/>
            <a:ext cx="38100" cy="112186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10115550" y="6477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Interfaz Web Pública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609600" y="62293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Comprobación en BD: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Registro almacenado con timestamp 2026-10-06 18:07:07 en tabla solicitudes_cotizacion.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609600" y="457200"/>
            <a:ext cx="722709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DEMOSTRACIÓN EN VIVO · PASO 1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609600" y="628650"/>
            <a:ext cx="758844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Actor 1: Cliente / Operador Aeronáutico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6267450" y="2266950"/>
            <a:ext cx="59245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DATOS DEL CASO DE PRUEBA EN VIVO</a:t>
            </a:r>
            <a:endParaRPr/>
          </a:p>
        </p:txBody>
      </p:sp>
      <p:sp>
        <p:nvSpPr>
          <p:cNvPr id="237" name="Google Shape;237;p7"/>
          <p:cNvSpPr txBox="1"/>
          <p:nvPr/>
        </p:nvSpPr>
        <p:spPr>
          <a:xfrm>
            <a:off x="857250" y="1893837"/>
            <a:ext cx="60132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Consulta de Habilitación DAN 145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857250" y="2170062"/>
            <a:ext cx="46767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usuario navega por las capacidades oficiales para mangueras de presión y gobernadores de hélice.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857250" y="3187154"/>
            <a:ext cx="60132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Captura con Validación Estricta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857250" y="3463379"/>
            <a:ext cx="46767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Ingreso de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Mauricio Lagos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(Aerovías del Sur). El sistema impide el envío si faltan P/N o S/N.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857250" y="4480470"/>
            <a:ext cx="601325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Asignación de Folio y Alerta Verde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857250" y="4756695"/>
            <a:ext cx="46767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Generación del correlativo institucional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REQ-10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confirmación visual inmediata en pantalla.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6267450" y="2647950"/>
            <a:ext cx="1200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 / RUT: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9182100" y="2647950"/>
            <a:ext cx="265509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Mauricio Lagos · 21.476.744-9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6267450" y="3124200"/>
            <a:ext cx="19883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Operador Aeronáutico: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10182225" y="3124200"/>
            <a:ext cx="1409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Aerovías del Sur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6267450" y="3600450"/>
            <a:ext cx="19407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Número de Parte (P/N):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9648825" y="3600450"/>
            <a:ext cx="20716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8210-002 (Woodward)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6267450" y="4076700"/>
            <a:ext cx="19169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Número de Serie (S/N):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10610850" y="4076700"/>
            <a:ext cx="981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SN-99412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6267450" y="4552950"/>
            <a:ext cx="163115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Servicio Solicitado: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8982075" y="4552950"/>
            <a:ext cx="29051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Overhaul General de Gobernador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9953625" y="590550"/>
            <a:ext cx="1628775" cy="285750"/>
          </a:xfrm>
          <a:prstGeom prst="roundRect">
            <a:avLst>
              <a:gd fmla="val 13333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09600" y="1400175"/>
            <a:ext cx="5314950" cy="1304925"/>
          </a:xfrm>
          <a:prstGeom prst="roundRect">
            <a:avLst>
              <a:gd fmla="val 729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09600" y="2876550"/>
            <a:ext cx="5314950" cy="1323975"/>
          </a:xfrm>
          <a:prstGeom prst="roundRect">
            <a:avLst>
              <a:gd fmla="val 71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09600" y="4371975"/>
            <a:ext cx="5314950" cy="1304925"/>
          </a:xfrm>
          <a:prstGeom prst="roundRect">
            <a:avLst>
              <a:gd fmla="val 729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267450" y="2146994"/>
            <a:ext cx="5314950" cy="1600200"/>
          </a:xfrm>
          <a:prstGeom prst="roundRect">
            <a:avLst>
              <a:gd fmla="val 7142" name="adj"/>
            </a:avLst>
          </a:prstGeom>
          <a:solidFill>
            <a:srgbClr val="0F2B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267450" y="3899594"/>
            <a:ext cx="5314950" cy="1030485"/>
          </a:xfrm>
          <a:prstGeom prst="roundRect">
            <a:avLst>
              <a:gd fmla="val 11091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7475" y="410438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8"/>
          <p:cNvSpPr txBox="1"/>
          <p:nvPr/>
        </p:nvSpPr>
        <p:spPr>
          <a:xfrm>
            <a:off x="10086975" y="647700"/>
            <a:ext cx="14573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Interno de Taller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609600" y="457200"/>
            <a:ext cx="762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DEMOSTRACIÓN EN VIVO · PASO 2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609600" y="6286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Actores 2 y 3: Admisión y Mecánico Taller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828675" y="1619250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ACTOR 2: ENCARGADO DE ADMISIÓN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828675" y="1809750"/>
            <a:ext cx="6400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Recepción Física de la Pieza</a:t>
            </a:r>
            <a:endParaRPr/>
          </a:p>
        </p:txBody>
      </p:sp>
      <p:sp>
        <p:nvSpPr>
          <p:cNvPr id="271" name="Google Shape;271;p8"/>
          <p:cNvSpPr txBox="1"/>
          <p:nvPr/>
        </p:nvSpPr>
        <p:spPr>
          <a:xfrm>
            <a:off x="828675" y="2085975"/>
            <a:ext cx="4972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Localiza la tarjeta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REQ-10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la columna </a:t>
            </a:r>
            <a:r>
              <a:rPr b="0" i="1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Pendientes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 Kanban y valida los datos de la placa metálica.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828675" y="3095625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ACTOR 3: MECÁNICO ESPECIALISTA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828675" y="3286125"/>
            <a:ext cx="6400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Técnica y Costeo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828675" y="356235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Accede a /admin/evaluar/10, asigna especialista (</a:t>
            </a:r>
            <a:r>
              <a:rPr b="0" i="1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Juan Rojas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e ingresa presupuesto (</a:t>
            </a:r>
            <a:r>
              <a:rPr b="0" i="1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$150.000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828675" y="4591050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TRANSICIÓN OPERATIVA</a:t>
            </a:r>
            <a:endParaRPr/>
          </a:p>
        </p:txBody>
      </p:sp>
      <p:sp>
        <p:nvSpPr>
          <p:cNvPr id="276" name="Google Shape;276;p8"/>
          <p:cNvSpPr txBox="1"/>
          <p:nvPr/>
        </p:nvSpPr>
        <p:spPr>
          <a:xfrm>
            <a:off x="828675" y="4781550"/>
            <a:ext cx="6400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 a Estado «Trabajando»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828675" y="5057775"/>
            <a:ext cx="49720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presionar guardar, la orden migra automáticamente de columna en el Kanban y actualiza la base de datos en tiempo real.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6496050" y="2375594"/>
            <a:ext cx="5695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TRAZABILIDAD 1:1 COMPROBADA</a:t>
            </a:r>
            <a:endParaRPr/>
          </a:p>
        </p:txBody>
      </p:sp>
      <p:sp>
        <p:nvSpPr>
          <p:cNvPr id="279" name="Google Shape;279;p8"/>
          <p:cNvSpPr txBox="1"/>
          <p:nvPr/>
        </p:nvSpPr>
        <p:spPr>
          <a:xfrm>
            <a:off x="6496050" y="2585144"/>
            <a:ext cx="56959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Sin Fricciones</a:t>
            </a:r>
            <a:endParaRPr/>
          </a:p>
        </p:txBody>
      </p:sp>
      <p:sp>
        <p:nvSpPr>
          <p:cNvPr id="280" name="Google Shape;280;p8"/>
          <p:cNvSpPr txBox="1"/>
          <p:nvPr/>
        </p:nvSpPr>
        <p:spPr>
          <a:xfrm>
            <a:off x="6496050" y="2918519"/>
            <a:ext cx="4953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movimiento en la interfaz web ejecuta transacciones atómicas controladas por JPA, asegurando que ningún componente ingrese a taller sin responsable técnico asignado.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6467475" y="4356794"/>
            <a:ext cx="50101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flujo abarca entrada, validación, proceso y salida de datos entre dos actores distintos, tal como exigió el docente guía.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6753225" y="4099619"/>
            <a:ext cx="31003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Criterio de Evaluación Cumplido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9401175" y="590550"/>
            <a:ext cx="2181225" cy="285750"/>
          </a:xfrm>
          <a:prstGeom prst="roundRect">
            <a:avLst>
              <a:gd fmla="val 1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09600" y="2386012"/>
            <a:ext cx="3505200" cy="2305050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343400" y="2386012"/>
            <a:ext cx="3505200" cy="2305050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077200" y="2386012"/>
            <a:ext cx="3505200" cy="2305050"/>
          </a:xfrm>
          <a:prstGeom prst="roundRect">
            <a:avLst>
              <a:gd fmla="val 41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6622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26622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26622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77653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0112" y="2767012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4862" y="2767012"/>
            <a:ext cx="2000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 txBox="1"/>
          <p:nvPr/>
        </p:nvSpPr>
        <p:spPr>
          <a:xfrm>
            <a:off x="9534525" y="647700"/>
            <a:ext cx="2009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Pila Tecnológica Estandarizada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609600" y="457200"/>
            <a:ext cx="6822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INGENIERÍA DE SOFTWARE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609600" y="628650"/>
            <a:ext cx="716339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y Resguardo Disciplinar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847725" y="3195637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3FN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847725" y="3529012"/>
            <a:ext cx="3786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MYSQL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847725" y="3814762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 entidades normalizadas con integridad referencial, claves foráneas activas y borrado controlado.</a:t>
            </a:r>
            <a:endParaRPr/>
          </a:p>
        </p:txBody>
      </p:sp>
      <p:sp>
        <p:nvSpPr>
          <p:cNvPr id="305" name="Google Shape;305;p9"/>
          <p:cNvSpPr txBox="1"/>
          <p:nvPr/>
        </p:nvSpPr>
        <p:spPr>
          <a:xfrm>
            <a:off x="4581525" y="3195637"/>
            <a:ext cx="397549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Patrón MVC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4581525" y="3529012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SPRING BOOT + JPA</a:t>
            </a:r>
            <a:endParaRPr/>
          </a:p>
        </p:txBody>
      </p:sp>
      <p:sp>
        <p:nvSpPr>
          <p:cNvPr id="307" name="Google Shape;307;p9"/>
          <p:cNvSpPr txBox="1"/>
          <p:nvPr/>
        </p:nvSpPr>
        <p:spPr>
          <a:xfrm>
            <a:off x="4581525" y="3814762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 de negocio desacoplada con entidades JPA, repositorios Spring Data y vistas Thymeleaf.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8315325" y="3195637"/>
            <a:ext cx="387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Versionamiento Git</a:t>
            </a:r>
            <a:endParaRPr/>
          </a:p>
        </p:txBody>
      </p:sp>
      <p:sp>
        <p:nvSpPr>
          <p:cNvPr id="309" name="Google Shape;309;p9"/>
          <p:cNvSpPr txBox="1"/>
          <p:nvPr/>
        </p:nvSpPr>
        <p:spPr>
          <a:xfrm>
            <a:off x="8315325" y="3529012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ESTÁNDAR DUOC UC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8315325" y="3814762"/>
            <a:ext cx="31242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Commits verificables y equitativos, estructura formal de carpetas y gestión ágil con GitHub Projects.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9410700" y="590550"/>
            <a:ext cx="2171700" cy="285750"/>
          </a:xfrm>
          <a:prstGeom prst="roundRect">
            <a:avLst>
              <a:gd fmla="val 13333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09600" y="2763291"/>
            <a:ext cx="2609850" cy="1550491"/>
          </a:xfrm>
          <a:prstGeom prst="roundRect">
            <a:avLst>
              <a:gd fmla="val 61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390900" y="2763291"/>
            <a:ext cx="2609850" cy="1550491"/>
          </a:xfrm>
          <a:prstGeom prst="roundRect">
            <a:avLst>
              <a:gd fmla="val 61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172200" y="2763291"/>
            <a:ext cx="2609850" cy="1550491"/>
          </a:xfrm>
          <a:prstGeom prst="roundRect">
            <a:avLst>
              <a:gd fmla="val 614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8953500" y="2753766"/>
            <a:ext cx="2628900" cy="1569541"/>
          </a:xfrm>
          <a:prstGeom prst="roundRect">
            <a:avLst>
              <a:gd fmla="val 6068" name="adj"/>
            </a:avLst>
          </a:prstGeom>
          <a:solidFill>
            <a:srgbClr val="F0F9FF"/>
          </a:solidFill>
          <a:ln cap="flat" cmpd="sng" w="190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9544050" y="647700"/>
            <a:ext cx="2000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Foco en Integración y Calidad</a:t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609600" y="62293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Principio de calidad: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Las últimas 4 semanas no agregan requerimientos nuevos; se reservan exclusivamente para pruebas, seguridad y estabilidad.</a:t>
            </a:r>
            <a:endParaRPr/>
          </a:p>
        </p:txBody>
      </p:sp>
      <p:sp>
        <p:nvSpPr>
          <p:cNvPr id="324" name="Google Shape;324;p10"/>
          <p:cNvSpPr txBox="1"/>
          <p:nvPr/>
        </p:nvSpPr>
        <p:spPr>
          <a:xfrm>
            <a:off x="609600" y="457200"/>
            <a:ext cx="7429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PLANIFICACIÓN V1.0</a:t>
            </a:r>
            <a:endParaRPr/>
          </a:p>
        </p:txBody>
      </p:sp>
      <p:sp>
        <p:nvSpPr>
          <p:cNvPr id="325" name="Google Shape;325;p10"/>
          <p:cNvSpPr txBox="1"/>
          <p:nvPr/>
        </p:nvSpPr>
        <p:spPr>
          <a:xfrm>
            <a:off x="609600" y="628650"/>
            <a:ext cx="78009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 de Cierre: Ocho Semanas Restantes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790575" y="2982366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1 - 2 · 77.5%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790575" y="3230016"/>
            <a:ext cx="29503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Ajustes Taller</a:t>
            </a:r>
            <a:endParaRPr/>
          </a:p>
        </p:txBody>
      </p:sp>
      <p:sp>
        <p:nvSpPr>
          <p:cNvPr id="328" name="Google Shape;328;p10"/>
          <p:cNvSpPr txBox="1"/>
          <p:nvPr/>
        </p:nvSpPr>
        <p:spPr>
          <a:xfrm>
            <a:off x="790575" y="3534816"/>
            <a:ext cx="23431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de motivo de rechazo y filtros multicriterio en historial de solicitudes.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3571875" y="2982366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3 - 4 · 95.0%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3571875" y="3230016"/>
            <a:ext cx="29503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PDF y Correo</a:t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3571875" y="3534816"/>
            <a:ext cx="23431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Reporte PDF Formulario DGAC 8130-3 y avisos automáticos por correo SMTP al cliente.</a:t>
            </a:r>
            <a:endParaRPr/>
          </a:p>
        </p:txBody>
      </p:sp>
      <p:sp>
        <p:nvSpPr>
          <p:cNvPr id="332" name="Google Shape;332;p10"/>
          <p:cNvSpPr txBox="1"/>
          <p:nvPr/>
        </p:nvSpPr>
        <p:spPr>
          <a:xfrm>
            <a:off x="6353175" y="2982366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5 - 6 · 98.5%</a:t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6353175" y="3230016"/>
            <a:ext cx="29503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E2E</a:t>
            </a:r>
            <a:endParaRPr/>
          </a:p>
        </p:txBody>
      </p:sp>
      <p:sp>
        <p:nvSpPr>
          <p:cNvPr id="334" name="Google Shape;334;p10"/>
          <p:cNvSpPr txBox="1"/>
          <p:nvPr/>
        </p:nvSpPr>
        <p:spPr>
          <a:xfrm>
            <a:off x="6353175" y="3534816"/>
            <a:ext cx="23431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integradas de ciclo completo, sanitización de consultas y optimización SQL.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9144000" y="2982366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 7 - 8 · 100%</a:t>
            </a:r>
            <a:endParaRPr/>
          </a:p>
        </p:txBody>
      </p:sp>
      <p:sp>
        <p:nvSpPr>
          <p:cNvPr id="336" name="Google Shape;336;p10"/>
          <p:cNvSpPr txBox="1"/>
          <p:nvPr/>
        </p:nvSpPr>
        <p:spPr>
          <a:xfrm>
            <a:off x="9144000" y="3230016"/>
            <a:ext cx="295036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Cierre v1.0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9144000" y="3534816"/>
            <a:ext cx="23431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Congelamiento de código (code freeze), versión candidata RC1 y release tag v1.0.0.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/>
          <p:nvPr/>
        </p:nvSpPr>
        <p:spPr>
          <a:xfrm>
            <a:off x="609600" y="6067425"/>
            <a:ext cx="10972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10077450" y="590550"/>
            <a:ext cx="1504950" cy="285750"/>
          </a:xfrm>
          <a:prstGeom prst="roundRect">
            <a:avLst>
              <a:gd fmla="val 1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09600" y="2476500"/>
            <a:ext cx="3505200" cy="2124075"/>
          </a:xfrm>
          <a:prstGeom prst="roundRect">
            <a:avLst>
              <a:gd fmla="val 4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343400" y="2476500"/>
            <a:ext cx="3505200" cy="2124075"/>
          </a:xfrm>
          <a:prstGeom prst="roundRect">
            <a:avLst>
              <a:gd fmla="val 4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8077200" y="2476500"/>
            <a:ext cx="3505200" cy="2124075"/>
          </a:xfrm>
          <a:prstGeom prst="roundRect">
            <a:avLst>
              <a:gd fmla="val 4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609600" y="6067425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828675" y="3848100"/>
            <a:ext cx="3067050" cy="495300"/>
          </a:xfrm>
          <a:prstGeom prst="roundRect">
            <a:avLst>
              <a:gd fmla="val 11538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562475" y="3848100"/>
            <a:ext cx="3067050" cy="495300"/>
          </a:xfrm>
          <a:prstGeom prst="roundRect">
            <a:avLst>
              <a:gd fmla="val 11538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8296275" y="3848100"/>
            <a:ext cx="3067050" cy="495300"/>
          </a:xfrm>
          <a:prstGeom prst="roundRect">
            <a:avLst>
              <a:gd fmla="val 11538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28675" y="3848100"/>
            <a:ext cx="28575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562475" y="3848100"/>
            <a:ext cx="28575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8296275" y="3848100"/>
            <a:ext cx="28575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10210800" y="64770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Ficha 04 · Sección 8</a:t>
            </a:r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609600" y="457200"/>
            <a:ext cx="6798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RIESGOS</a:t>
            </a:r>
            <a:endParaRPr/>
          </a:p>
        </p:txBody>
      </p:sp>
      <p:sp>
        <p:nvSpPr>
          <p:cNvPr id="356" name="Google Shape;356;p11"/>
          <p:cNvSpPr txBox="1"/>
          <p:nvPr/>
        </p:nvSpPr>
        <p:spPr>
          <a:xfrm>
            <a:off x="609600" y="628650"/>
            <a:ext cx="713839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B46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Decisiones y Mitigación de Bloqueos</a:t>
            </a:r>
            <a:endParaRPr/>
          </a:p>
        </p:txBody>
      </p:sp>
      <p:sp>
        <p:nvSpPr>
          <p:cNvPr id="357" name="Google Shape;357;p11"/>
          <p:cNvSpPr txBox="1"/>
          <p:nvPr/>
        </p:nvSpPr>
        <p:spPr>
          <a:xfrm>
            <a:off x="828675" y="2733675"/>
            <a:ext cx="38338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BLOQUEO 1</a:t>
            </a:r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828675" y="3000375"/>
            <a:ext cx="40255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Plantilla PDF DGAC</a:t>
            </a:r>
            <a:endParaRPr/>
          </a:p>
        </p:txBody>
      </p:sp>
      <p:sp>
        <p:nvSpPr>
          <p:cNvPr id="359" name="Google Shape;359;p11"/>
          <p:cNvSpPr txBox="1"/>
          <p:nvPr/>
        </p:nvSpPr>
        <p:spPr>
          <a:xfrm>
            <a:off x="828675" y="3333750"/>
            <a:ext cx="3162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Riesgo de retraso por la complejidad visual del Formulario 8130-3.</a:t>
            </a:r>
            <a:endParaRPr/>
          </a:p>
        </p:txBody>
      </p:sp>
      <p:sp>
        <p:nvSpPr>
          <p:cNvPr id="360" name="Google Shape;360;p11"/>
          <p:cNvSpPr txBox="1"/>
          <p:nvPr/>
        </p:nvSpPr>
        <p:spPr>
          <a:xfrm>
            <a:off x="4562475" y="2733675"/>
            <a:ext cx="38338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BLOQUEO 2</a:t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4562475" y="3000375"/>
            <a:ext cx="402550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Latencia Servicio SMTP</a:t>
            </a:r>
            <a:endParaRPr/>
          </a:p>
        </p:txBody>
      </p:sp>
      <p:sp>
        <p:nvSpPr>
          <p:cNvPr id="362" name="Google Shape;362;p11"/>
          <p:cNvSpPr txBox="1"/>
          <p:nvPr/>
        </p:nvSpPr>
        <p:spPr>
          <a:xfrm>
            <a:off x="4562475" y="3333750"/>
            <a:ext cx="3162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Posibles caídas o demoras al transicionar estados en el tablero Kanban.</a:t>
            </a:r>
            <a:endParaRPr/>
          </a:p>
        </p:txBody>
      </p:sp>
      <p:sp>
        <p:nvSpPr>
          <p:cNvPr id="363" name="Google Shape;363;p11"/>
          <p:cNvSpPr txBox="1"/>
          <p:nvPr/>
        </p:nvSpPr>
        <p:spPr>
          <a:xfrm>
            <a:off x="8296275" y="2733675"/>
            <a:ext cx="38338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BLOQUEO 3</a:t>
            </a:r>
            <a:endParaRPr/>
          </a:p>
        </p:txBody>
      </p:sp>
      <p:sp>
        <p:nvSpPr>
          <p:cNvPr id="364" name="Google Shape;364;p11"/>
          <p:cNvSpPr txBox="1"/>
          <p:nvPr/>
        </p:nvSpPr>
        <p:spPr>
          <a:xfrm>
            <a:off x="8296275" y="3000375"/>
            <a:ext cx="3895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2B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Coordinación Sincrónica</a:t>
            </a:r>
            <a:endParaRPr/>
          </a:p>
        </p:txBody>
      </p:sp>
      <p:sp>
        <p:nvSpPr>
          <p:cNvPr id="365" name="Google Shape;365;p11"/>
          <p:cNvSpPr txBox="1"/>
          <p:nvPr/>
        </p:nvSpPr>
        <p:spPr>
          <a:xfrm>
            <a:off x="8296275" y="3333750"/>
            <a:ext cx="3162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Carga académica paralela del equipo en semanas de certámenes.</a:t>
            </a:r>
            <a:endParaRPr/>
          </a:p>
        </p:txBody>
      </p:sp>
      <p:sp>
        <p:nvSpPr>
          <p:cNvPr id="366" name="Google Shape;366;p11"/>
          <p:cNvSpPr txBox="1"/>
          <p:nvPr/>
        </p:nvSpPr>
        <p:spPr>
          <a:xfrm>
            <a:off x="971550" y="3943350"/>
            <a:ext cx="2905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Acción: Servicio reutilizable OpenPDF con estructura modular predefinida.</a:t>
            </a:r>
            <a:endParaRPr/>
          </a:p>
        </p:txBody>
      </p:sp>
      <p:sp>
        <p:nvSpPr>
          <p:cNvPr id="367" name="Google Shape;367;p11"/>
          <p:cNvSpPr txBox="1"/>
          <p:nvPr/>
        </p:nvSpPr>
        <p:spPr>
          <a:xfrm>
            <a:off x="4705350" y="3943350"/>
            <a:ext cx="2905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Acción: Ejecución asíncrona (@Async) en Spring Boot y mock en Mailtrap.</a:t>
            </a:r>
            <a:endParaRPr/>
          </a:p>
        </p:txBody>
      </p:sp>
      <p:sp>
        <p:nvSpPr>
          <p:cNvPr id="368" name="Google Shape;368;p11"/>
          <p:cNvSpPr txBox="1"/>
          <p:nvPr/>
        </p:nvSpPr>
        <p:spPr>
          <a:xfrm>
            <a:off x="8439150" y="3943350"/>
            <a:ext cx="2905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Acción: Trabajo asíncrono con asignación estricta en GitHub Projects.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/>
          <p:nvPr/>
        </p:nvSpPr>
        <p:spPr>
          <a:xfrm>
            <a:off x="5810250" y="4920555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3702843" y="1480244"/>
            <a:ext cx="4786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CONCLUSIÓN FASE 2 · PROYECTO CAPSTONE</a:t>
            </a:r>
            <a:endParaRPr/>
          </a:p>
        </p:txBody>
      </p:sp>
      <p:sp>
        <p:nvSpPr>
          <p:cNvPr id="375" name="Google Shape;375;p12"/>
          <p:cNvSpPr txBox="1"/>
          <p:nvPr/>
        </p:nvSpPr>
        <p:spPr>
          <a:xfrm>
            <a:off x="720328" y="1832669"/>
            <a:ext cx="10751343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Sistema Funcional, Verificable y Normado para el CMA N° 328</a:t>
            </a:r>
            <a:endParaRPr/>
          </a:p>
        </p:txBody>
      </p:sp>
      <p:sp>
        <p:nvSpPr>
          <p:cNvPr id="376" name="Google Shape;376;p12"/>
          <p:cNvSpPr txBox="1"/>
          <p:nvPr/>
        </p:nvSpPr>
        <p:spPr>
          <a:xfrm>
            <a:off x="1809750" y="3661470"/>
            <a:ext cx="857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67.5% de avance real respaldado en código fuente, modelo relacional 3FN y repositorio GitHub institucional.</a:t>
            </a:r>
            <a:endParaRPr/>
          </a:p>
        </p:txBody>
      </p:sp>
      <p:sp>
        <p:nvSpPr>
          <p:cNvPr id="377" name="Google Shape;377;p12"/>
          <p:cNvSpPr txBox="1"/>
          <p:nvPr/>
        </p:nvSpPr>
        <p:spPr>
          <a:xfrm>
            <a:off x="2744390" y="5177730"/>
            <a:ext cx="6703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Cristóbal Pérez · Yerai Charnock · Docente Guía: Profesor Reginaldo Salinas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